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6" r:id="rId7"/>
    <p:sldId id="322" r:id="rId8"/>
    <p:sldId id="323" r:id="rId9"/>
    <p:sldId id="324" r:id="rId10"/>
    <p:sldId id="277" r:id="rId11"/>
    <p:sldId id="320"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2/11/2026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extLst>
      <p:ext uri="{BB962C8B-B14F-4D97-AF65-F5344CB8AC3E}">
        <p14:creationId xmlns:p14="http://schemas.microsoft.com/office/powerpoint/2010/main" val="4612658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2/11/2026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5636"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100" b="1" dirty="0">
                <a:latin typeface="Times New Roman" pitchFamily="18" charset="0"/>
                <a:cs typeface="Times New Roman" pitchFamily="18" charset="0"/>
              </a:rPr>
              <a:t> </a:t>
            </a:r>
            <a:r>
              <a:rPr lang="en-IN" sz="3100" b="1" dirty="0"/>
              <a:t>Personal Knowledge Capsule</a:t>
            </a:r>
            <a:endParaRPr lang="en-US" sz="36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eaLnBrk="1" hangingPunct="1">
              <a:lnSpc>
                <a:spcPct val="80000"/>
              </a:lnSpc>
              <a:defRPr/>
            </a:pPr>
            <a:r>
              <a:rPr lang="en-US" sz="3300" dirty="0">
                <a:solidFill>
                  <a:srgbClr val="0D0D0D"/>
                </a:solidFill>
                <a:latin typeface="Times New Roman" pitchFamily="18" charset="0"/>
                <a:cs typeface="Times New Roman" pitchFamily="18" charset="0"/>
              </a:rPr>
              <a:t>                 Name  </a:t>
            </a:r>
            <a:r>
              <a:rPr lang="en-US" sz="3300" dirty="0" err="1">
                <a:solidFill>
                  <a:srgbClr val="0D0D0D"/>
                </a:solidFill>
                <a:latin typeface="Times New Roman" pitchFamily="18" charset="0"/>
                <a:cs typeface="Times New Roman" pitchFamily="18" charset="0"/>
              </a:rPr>
              <a:t>V.Sanjay</a:t>
            </a:r>
            <a:r>
              <a:rPr lang="en-US" sz="3300" dirty="0">
                <a:solidFill>
                  <a:srgbClr val="0D0D0D"/>
                </a:solidFill>
                <a:latin typeface="Times New Roman" pitchFamily="18" charset="0"/>
                <a:cs typeface="Times New Roman" pitchFamily="18" charset="0"/>
              </a:rPr>
              <a:t>                        roll 242003030014</a:t>
            </a:r>
          </a:p>
          <a:p>
            <a:pPr marR="0" eaLnBrk="1" hangingPunct="1">
              <a:lnSpc>
                <a:spcPct val="80000"/>
              </a:lnSpc>
              <a:defRPr/>
            </a:pPr>
            <a:r>
              <a:rPr lang="en-US" sz="3300" dirty="0">
                <a:solidFill>
                  <a:srgbClr val="0D0D0D"/>
                </a:solidFill>
                <a:latin typeface="Times New Roman" pitchFamily="18" charset="0"/>
                <a:cs typeface="Times New Roman" pitchFamily="18" charset="0"/>
              </a:rPr>
              <a:t>             Name  </a:t>
            </a:r>
            <a:r>
              <a:rPr lang="en-US" sz="3300" dirty="0" err="1">
                <a:solidFill>
                  <a:srgbClr val="0D0D0D"/>
                </a:solidFill>
                <a:latin typeface="Times New Roman" pitchFamily="18" charset="0"/>
                <a:cs typeface="Times New Roman" pitchFamily="18" charset="0"/>
              </a:rPr>
              <a:t>P.Rahul</a:t>
            </a:r>
            <a:r>
              <a:rPr lang="en-US" sz="3300" dirty="0">
                <a:solidFill>
                  <a:srgbClr val="0D0D0D"/>
                </a:solidFill>
                <a:latin typeface="Times New Roman" pitchFamily="18" charset="0"/>
                <a:cs typeface="Times New Roman" pitchFamily="18" charset="0"/>
              </a:rPr>
              <a:t>                           roll 2420030368</a:t>
            </a:r>
          </a:p>
          <a:p>
            <a:pPr marR="0" eaLnBrk="1" hangingPunct="1">
              <a:lnSpc>
                <a:spcPct val="80000"/>
              </a:lnSpc>
              <a:defRPr/>
            </a:pPr>
            <a:r>
              <a:rPr lang="en-US" sz="3300" dirty="0">
                <a:solidFill>
                  <a:srgbClr val="0D0D0D"/>
                </a:solidFill>
                <a:latin typeface="Times New Roman" pitchFamily="18" charset="0"/>
                <a:cs typeface="Times New Roman" pitchFamily="18" charset="0"/>
              </a:rPr>
              <a:t>              Name  M.V.S  Aasrith              roll 24200303573</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13</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a:lnSpc>
                <a:spcPct val="80000"/>
              </a:lnSpc>
              <a:defRPr/>
            </a:pPr>
            <a:r>
              <a:rPr lang="en-US" sz="3400" b="1" dirty="0">
                <a:solidFill>
                  <a:srgbClr val="00B0F0"/>
                </a:solidFill>
                <a:latin typeface="Times New Roman" pitchFamily="18" charset="0"/>
                <a:cs typeface="Times New Roman" pitchFamily="18" charset="0"/>
              </a:rPr>
              <a:t>Dr Kavitha Lakshmi M</a:t>
            </a:r>
          </a:p>
          <a:p>
            <a:pPr>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dirty="0">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Project Flow Diagram</a:t>
            </a:r>
          </a:p>
          <a:p>
            <a:r>
              <a:rPr lang="en-US" dirty="0">
                <a:latin typeface="Times New Roman" pitchFamily="18" charset="0"/>
                <a:cs typeface="Times New Roman" pitchFamily="18" charset="0"/>
              </a:rPr>
              <a:t>Objectives with Justification</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Abstract</a:t>
            </a:r>
            <a:endParaRPr lang="en-US" sz="2800" dirty="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62500" lnSpcReduction="20000"/>
          </a:bodyPr>
          <a:lstStyle/>
          <a:p>
            <a:pPr algn="just"/>
            <a:r>
              <a:rPr lang="en-US" dirty="0">
                <a:latin typeface="Times New Roman" panose="02020603050405020304" pitchFamily="18" charset="0"/>
                <a:cs typeface="Times New Roman" panose="02020603050405020304" pitchFamily="18" charset="0"/>
              </a:rPr>
              <a:t>In today’s digital environment, individuals generate large amounts of personal knowledge such as notes, ideas, and study materials, which are often stored in an unorganized manner across multiple platforms, making retrieval difficult. The lack of a centralized and structured system results in loss of valuable information and reduced productivity. To address this issue, the Personal Knowledge Capsule is proposed as a full-stack web application that provides a centralized platform for storing, organizing, and retrieving personal knowledge efficiently. </a:t>
            </a:r>
          </a:p>
          <a:p>
            <a:pPr algn="just"/>
            <a:r>
              <a:rPr lang="en-US" dirty="0">
                <a:latin typeface="Times New Roman" panose="02020603050405020304" pitchFamily="18" charset="0"/>
                <a:cs typeface="Times New Roman" panose="02020603050405020304" pitchFamily="18" charset="0"/>
              </a:rPr>
              <a:t>The system allows users to create knowledge entries and organize them using categories and moods to enable context-based retrieval. Users can also filter and sort stored information based on parameters such as category, mood, and creation date. The backend of the application is developed using Spring Boot, while Hibernate with JPA is used for efficient database interaction. RESTful APIs support CRUD operations, ensuring scalability and seamless integration with front-end applications. Overall, the proposed system offers a simple, efficient, and user-friendly solution for effective personal knowledge management.</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The Personal Knowledge Capsule is proposed to address these challenges by providing a centralized, digital platform for storing, organizing, and retrieving personal knowledge in a systematic manner. The system enables users to create knowledge entries and categorize them using meaningful parameters such as categories and moods, allowing context-based retrieval. Advanced filtering and sorting features further enhance accessibility and usability.</a:t>
            </a:r>
          </a:p>
          <a:p>
            <a:pPr algn="just"/>
            <a:r>
              <a:rPr lang="en-US" dirty="0">
                <a:latin typeface="Times New Roman" panose="02020603050405020304" pitchFamily="18" charset="0"/>
                <a:cs typeface="Times New Roman" panose="02020603050405020304" pitchFamily="18" charset="0"/>
              </a:rPr>
              <a:t>Developed as a full-stack web application, the system utilizes modern technologies to ensure scalability, efficiency, and ease of use. The backend is implemented using Spring Boot with Hibernate and JPA for robust database management, while RESTful APIs facilitate seamless communication with front-end applications. Overall, the Personal Knowledge Capsule aims to improve personal knowledge management by offering a simple, efficient, and user-friendly solution.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Personal knowledge is scattered across notebooks and apps</a:t>
            </a:r>
          </a:p>
          <a:p>
            <a:r>
              <a:rPr lang="en-US" sz="2000" dirty="0">
                <a:latin typeface="Times New Roman" panose="02020603050405020304" pitchFamily="18" charset="0"/>
                <a:cs typeface="Times New Roman" panose="02020603050405020304" pitchFamily="18" charset="0"/>
              </a:rPr>
              <a:t> Retrieving information is time-consuming</a:t>
            </a:r>
          </a:p>
          <a:p>
            <a:r>
              <a:rPr lang="en-US" sz="2000" dirty="0">
                <a:latin typeface="Times New Roman" panose="02020603050405020304" pitchFamily="18" charset="0"/>
                <a:cs typeface="Times New Roman" panose="02020603050405020304" pitchFamily="18" charset="0"/>
              </a:rPr>
              <a:t> Lack of structure reduces productivity</a:t>
            </a:r>
          </a:p>
          <a:p>
            <a:r>
              <a:rPr lang="en-US" sz="2000" dirty="0">
                <a:latin typeface="Times New Roman" panose="02020603050405020304" pitchFamily="18" charset="0"/>
                <a:cs typeface="Times New Roman" panose="02020603050405020304" pitchFamily="18" charset="0"/>
              </a:rPr>
              <a:t> Need for a centralized knowledge system</a:t>
            </a:r>
          </a:p>
          <a:p>
            <a:pPr algn="just"/>
            <a:endParaRPr lang="en-US"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0BF7C-4E42-3323-319A-9E8717B94BB8}"/>
              </a:ext>
            </a:extLst>
          </p:cNvPr>
          <p:cNvSpPr>
            <a:spLocks noGrp="1"/>
          </p:cNvSpPr>
          <p:nvPr>
            <p:ph type="title"/>
          </p:nvPr>
        </p:nvSpPr>
        <p:spPr>
          <a:xfrm>
            <a:off x="457200" y="274638"/>
            <a:ext cx="8229600" cy="815180"/>
          </a:xfrm>
        </p:spPr>
        <p:txBody>
          <a:bodyPr>
            <a:normAutofit/>
          </a:bodyPr>
          <a:lstStyle/>
          <a:p>
            <a:r>
              <a:rPr lang="en-US" sz="2800" b="1" dirty="0">
                <a:solidFill>
                  <a:srgbClr val="0070C0"/>
                </a:solidFill>
                <a:latin typeface="Times New Roman" pitchFamily="18" charset="0"/>
                <a:cs typeface="Times New Roman" pitchFamily="18" charset="0"/>
              </a:rPr>
              <a:t>Project Flow Diagram</a:t>
            </a:r>
          </a:p>
        </p:txBody>
      </p:sp>
      <p:sp>
        <p:nvSpPr>
          <p:cNvPr id="5" name="Content Placeholder 4">
            <a:extLst>
              <a:ext uri="{FF2B5EF4-FFF2-40B4-BE49-F238E27FC236}">
                <a16:creationId xmlns:a16="http://schemas.microsoft.com/office/drawing/2014/main" id="{1C7B0B59-E773-3598-767E-554F3BF62EB8}"/>
              </a:ext>
            </a:extLst>
          </p:cNvPr>
          <p:cNvSpPr>
            <a:spLocks noGrp="1"/>
          </p:cNvSpPr>
          <p:nvPr>
            <p:ph idx="1"/>
          </p:nvPr>
        </p:nvSpPr>
        <p:spPr>
          <a:xfrm>
            <a:off x="457200" y="1075963"/>
            <a:ext cx="8229600" cy="4525963"/>
          </a:xfrm>
        </p:spPr>
        <p:txBody>
          <a:bodyPr>
            <a:normAutofit/>
          </a:bodyPr>
          <a:lstStyle/>
          <a:p>
            <a:pPr marL="0" indent="0">
              <a:buNone/>
            </a:pPr>
            <a:r>
              <a:rPr lang="en-IN" dirty="0"/>
              <a:t>System Architecture – Personal Knowledge Capsule</a:t>
            </a:r>
          </a:p>
        </p:txBody>
      </p:sp>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sp>
        <p:nvSpPr>
          <p:cNvPr id="4" name="Rectangle 3"/>
          <p:cNvSpPr/>
          <p:nvPr/>
        </p:nvSpPr>
        <p:spPr>
          <a:xfrm>
            <a:off x="2351809" y="1870257"/>
            <a:ext cx="3429000" cy="76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User Interface (Frontend)</a:t>
            </a:r>
            <a:br>
              <a:rPr lang="en-IN" dirty="0"/>
            </a:br>
            <a:r>
              <a:rPr lang="en-IN" dirty="0"/>
              <a:t>HTML | CSS | JavaScript</a:t>
            </a:r>
          </a:p>
        </p:txBody>
      </p:sp>
      <p:sp>
        <p:nvSpPr>
          <p:cNvPr id="6" name="Rectangle 5"/>
          <p:cNvSpPr/>
          <p:nvPr/>
        </p:nvSpPr>
        <p:spPr>
          <a:xfrm>
            <a:off x="2365663" y="2790054"/>
            <a:ext cx="3449782" cy="62264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Spring Boot Application</a:t>
            </a:r>
          </a:p>
        </p:txBody>
      </p:sp>
      <p:sp>
        <p:nvSpPr>
          <p:cNvPr id="7" name="Rectangle 6"/>
          <p:cNvSpPr/>
          <p:nvPr/>
        </p:nvSpPr>
        <p:spPr>
          <a:xfrm>
            <a:off x="2421082" y="3570493"/>
            <a:ext cx="3352800" cy="6677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Controller Layer</a:t>
            </a:r>
            <a:br>
              <a:rPr lang="en-IN" dirty="0"/>
            </a:br>
            <a:r>
              <a:rPr lang="en-IN" dirty="0"/>
              <a:t>REST APIs</a:t>
            </a:r>
          </a:p>
        </p:txBody>
      </p:sp>
      <p:sp>
        <p:nvSpPr>
          <p:cNvPr id="8" name="Rectangle 7"/>
          <p:cNvSpPr/>
          <p:nvPr/>
        </p:nvSpPr>
        <p:spPr>
          <a:xfrm>
            <a:off x="2421082" y="4410438"/>
            <a:ext cx="3342409" cy="7237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Service Layer</a:t>
            </a:r>
            <a:br>
              <a:rPr lang="en-IN" dirty="0"/>
            </a:br>
            <a:r>
              <a:rPr lang="en-IN" dirty="0"/>
              <a:t>Business Logic</a:t>
            </a:r>
          </a:p>
        </p:txBody>
      </p:sp>
      <p:sp>
        <p:nvSpPr>
          <p:cNvPr id="10" name="Rectangle 9"/>
          <p:cNvSpPr/>
          <p:nvPr/>
        </p:nvSpPr>
        <p:spPr>
          <a:xfrm>
            <a:off x="2462646" y="5297126"/>
            <a:ext cx="3311236"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t>Repository Layer</a:t>
            </a:r>
            <a:br>
              <a:rPr lang="en-US"/>
            </a:br>
            <a:r>
              <a:rPr lang="en-US"/>
              <a:t>Spring Data JPA</a:t>
            </a:r>
            <a:endParaRPr lang="en-IN"/>
          </a:p>
        </p:txBody>
      </p:sp>
      <p:sp>
        <p:nvSpPr>
          <p:cNvPr id="11" name="Rectangle 10"/>
          <p:cNvSpPr/>
          <p:nvPr/>
        </p:nvSpPr>
        <p:spPr>
          <a:xfrm>
            <a:off x="2462646" y="6065200"/>
            <a:ext cx="3394363" cy="6234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MySQL Database</a:t>
            </a:r>
            <a:br>
              <a:rPr lang="en-IN" dirty="0"/>
            </a:br>
            <a:r>
              <a:rPr lang="en-IN" dirty="0" err="1"/>
              <a:t>knowledge_items</a:t>
            </a:r>
            <a:endParaRPr lang="en-IN" dirty="0"/>
          </a:p>
        </p:txBody>
      </p:sp>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dirty="0">
                <a:solidFill>
                  <a:srgbClr val="0070C0"/>
                </a:solidFill>
                <a:latin typeface="Times New Roman" pitchFamily="18" charset="0"/>
                <a:cs typeface="Times New Roman" pitchFamily="18" charset="0"/>
              </a:rPr>
              <a:t>Objectives with Justification</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lstStyle/>
          <a:p>
            <a:pPr marL="0" indent="0">
              <a:buNone/>
            </a:pPr>
            <a:r>
              <a:rPr lang="en-US" sz="2000" dirty="0">
                <a:latin typeface="Times New Roman" panose="02020603050405020304" pitchFamily="18" charset="0"/>
                <a:cs typeface="Times New Roman" panose="02020603050405020304" pitchFamily="18" charset="0"/>
              </a:rPr>
              <a:t>Objectives:</a:t>
            </a:r>
          </a:p>
          <a:p>
            <a:r>
              <a:rPr lang="en-US" sz="2000" dirty="0">
                <a:latin typeface="Times New Roman" panose="02020603050405020304" pitchFamily="18" charset="0"/>
                <a:cs typeface="Times New Roman" panose="02020603050405020304" pitchFamily="18" charset="0"/>
              </a:rPr>
              <a:t> Structured storage</a:t>
            </a:r>
          </a:p>
          <a:p>
            <a:r>
              <a:rPr lang="en-US" sz="2000" dirty="0">
                <a:latin typeface="Times New Roman" panose="02020603050405020304" pitchFamily="18" charset="0"/>
                <a:cs typeface="Times New Roman" panose="02020603050405020304" pitchFamily="18" charset="0"/>
              </a:rPr>
              <a:t> Easy retrieval</a:t>
            </a:r>
          </a:p>
          <a:p>
            <a:r>
              <a:rPr lang="en-US" sz="2000" dirty="0">
                <a:latin typeface="Times New Roman" panose="02020603050405020304" pitchFamily="18" charset="0"/>
                <a:cs typeface="Times New Roman" panose="02020603050405020304" pitchFamily="18" charset="0"/>
              </a:rPr>
              <a:t> User-friendly design</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Proposed Solution:</a:t>
            </a:r>
          </a:p>
          <a:p>
            <a:r>
              <a:rPr lang="en-US" sz="2000" dirty="0">
                <a:latin typeface="Times New Roman" panose="02020603050405020304" pitchFamily="18" charset="0"/>
                <a:cs typeface="Times New Roman" panose="02020603050405020304" pitchFamily="18" charset="0"/>
              </a:rPr>
              <a:t>  Centralized digital storage of knowledge</a:t>
            </a:r>
          </a:p>
          <a:p>
            <a:r>
              <a:rPr lang="en-US" sz="2000" dirty="0">
                <a:latin typeface="Times New Roman" panose="02020603050405020304" pitchFamily="18" charset="0"/>
                <a:cs typeface="Times New Roman" panose="02020603050405020304" pitchFamily="18" charset="0"/>
              </a:rPr>
              <a:t>  Category and mood-based organization</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dirty="0">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The Frontend Web Pages module provides the user interface for interacting with the Personal Knowledge Capsule system. It is developed using HTML, CSS, and JavaScript to ensure a responsive and user-friendly experience. This module allows users to create, view, update, and delete personal knowledge entries. Users can organize their knowledge using categories and moods, and easily search, filter, and sort stored information based on different parameters. The frontend communicates with the backend through RESTful APIs to perform all operations efficiently. Overall, this module ensures smooth navigation, ease of use, and effective interaction with the system.</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pic>
        <p:nvPicPr>
          <p:cNvPr id="6" name="Content Placeholder 5">
            <a:extLst>
              <a:ext uri="{FF2B5EF4-FFF2-40B4-BE49-F238E27FC236}">
                <a16:creationId xmlns:a16="http://schemas.microsoft.com/office/drawing/2014/main" id="{331E0B72-83F3-94BB-3F58-D1CA45DE28F5}"/>
              </a:ext>
            </a:extLst>
          </p:cNvPr>
          <p:cNvPicPr>
            <a:picLocks noGrp="1" noChangeAspect="1"/>
          </p:cNvPicPr>
          <p:nvPr>
            <p:ph idx="1"/>
          </p:nvPr>
        </p:nvPicPr>
        <p:blipFill>
          <a:blip r:embed="rId2"/>
          <a:stretch>
            <a:fillRect/>
          </a:stretch>
        </p:blipFill>
        <p:spPr>
          <a:xfrm>
            <a:off x="457200" y="1689483"/>
            <a:ext cx="8229600" cy="38901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Advantages:</a:t>
            </a:r>
          </a:p>
          <a:p>
            <a:r>
              <a:rPr lang="en-US" sz="2000" dirty="0">
                <a:latin typeface="Times New Roman" panose="02020603050405020304" pitchFamily="18" charset="0"/>
                <a:cs typeface="Times New Roman" panose="02020603050405020304" pitchFamily="18" charset="0"/>
              </a:rPr>
              <a:t> Simple and user-friendly</a:t>
            </a:r>
          </a:p>
          <a:p>
            <a:r>
              <a:rPr lang="en-US" sz="2000" dirty="0">
                <a:latin typeface="Times New Roman" panose="02020603050405020304" pitchFamily="18" charset="0"/>
                <a:cs typeface="Times New Roman" panose="02020603050405020304" pitchFamily="18" charset="0"/>
              </a:rPr>
              <a:t> Organized storage</a:t>
            </a:r>
          </a:p>
          <a:p>
            <a:r>
              <a:rPr lang="en-US" sz="2000" dirty="0">
                <a:latin typeface="Times New Roman" panose="02020603050405020304" pitchFamily="18" charset="0"/>
                <a:cs typeface="Times New Roman" panose="02020603050405020304" pitchFamily="18" charset="0"/>
              </a:rPr>
              <a:t> Easy retrieval</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Use Cases:</a:t>
            </a:r>
          </a:p>
          <a:p>
            <a:r>
              <a:rPr lang="en-US" sz="2000" dirty="0">
                <a:latin typeface="Times New Roman" panose="02020603050405020304" pitchFamily="18" charset="0"/>
                <a:cs typeface="Times New Roman" panose="02020603050405020304" pitchFamily="18" charset="0"/>
              </a:rPr>
              <a:t> Personal notes</a:t>
            </a:r>
          </a:p>
          <a:p>
            <a:r>
              <a:rPr lang="en-US" sz="2000" dirty="0">
                <a:latin typeface="Times New Roman" panose="02020603050405020304" pitchFamily="18" charset="0"/>
                <a:cs typeface="Times New Roman" panose="02020603050405020304" pitchFamily="18" charset="0"/>
              </a:rPr>
              <a:t> Academic learning</a:t>
            </a:r>
          </a:p>
          <a:p>
            <a:r>
              <a:rPr lang="en-US" sz="2000" dirty="0">
                <a:latin typeface="Times New Roman" panose="02020603050405020304" pitchFamily="18" charset="0"/>
                <a:cs typeface="Times New Roman" panose="02020603050405020304" pitchFamily="18" charset="0"/>
              </a:rPr>
              <a:t> Idea organization</a:t>
            </a:r>
          </a:p>
          <a:p>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Conclusion:</a:t>
            </a:r>
          </a:p>
          <a:p>
            <a:r>
              <a:rPr lang="en-US" sz="2000" dirty="0">
                <a:latin typeface="Times New Roman" panose="02020603050405020304" pitchFamily="18" charset="0"/>
                <a:cs typeface="Times New Roman" panose="02020603050405020304" pitchFamily="18" charset="0"/>
              </a:rPr>
              <a:t>Efficient and scalable knowledge management system</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3" name="Rectangle 1"/>
          <p:cNvSpPr>
            <a:spLocks noGrp="1" noChangeArrowheads="1"/>
          </p:cNvSpPr>
          <p:nvPr>
            <p:ph idx="1"/>
          </p:nvPr>
        </p:nvSpPr>
        <p:spPr bwMode="auto">
          <a:xfrm>
            <a:off x="457200" y="1874966"/>
            <a:ext cx="705731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Boot Documentation –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Spring Boot Reference Guide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Hibernate ORM Documentation –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Hibernate User Guide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Java Persistence API (JPA) Specification – Oracle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Documentation –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MySQL 8.0 Reference Manual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RESTful Web Services –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Roy T. Fielding, Architectural Styles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W3C Documentation – </a:t>
            </a:r>
            <a:r>
              <a:rPr kumimoji="0" lang="en-US" altLang="en-US" sz="20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HTML, CSS, and JavaScript Standards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1859</TotalTime>
  <Words>791</Words>
  <Application>Microsoft Office PowerPoint</Application>
  <PresentationFormat>On-screen Show (4:3)</PresentationFormat>
  <Paragraphs>83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Personal Knowledge Capsule</vt:lpstr>
      <vt:lpstr>Outline of the Presentation</vt:lpstr>
      <vt:lpstr>Abstract</vt:lpstr>
      <vt:lpstr>Introduction</vt:lpstr>
      <vt:lpstr>Problem Statement </vt:lpstr>
      <vt:lpstr>Project Flow Diagram</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sanjay bhaargav</cp:lastModifiedBy>
  <cp:revision>203</cp:revision>
  <dcterms:created xsi:type="dcterms:W3CDTF">2006-08-16T00:00:00Z</dcterms:created>
  <dcterms:modified xsi:type="dcterms:W3CDTF">2026-02-11T03:06:35Z</dcterms:modified>
</cp:coreProperties>
</file>